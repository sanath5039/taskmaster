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66" r:id="rId3"/>
    <p:sldId id="267" r:id="rId4"/>
    <p:sldId id="257" r:id="rId5"/>
    <p:sldId id="258" r:id="rId6"/>
    <p:sldId id="259" r:id="rId7"/>
    <p:sldId id="260" r:id="rId8"/>
    <p:sldId id="261" r:id="rId9"/>
    <p:sldId id="278" r:id="rId10"/>
    <p:sldId id="263" r:id="rId12"/>
    <p:sldId id="268" r:id="rId13"/>
    <p:sldId id="271" r:id="rId14"/>
    <p:sldId id="275" r:id="rId15"/>
    <p:sldId id="276" r:id="rId16"/>
    <p:sldId id="277" r:id="rId17"/>
    <p:sldId id="269" r:id="rId18"/>
  </p:sldIdLst>
  <p:sldSz cx="12192000" cy="6858000"/>
  <p:notesSz cx="6858000" cy="9144000"/>
  <p:embeddedFontLst>
    <p:embeddedFont>
      <p:font typeface="Calibri" panose="020F0502020204030204" pitchFamily="34" charset="0"/>
      <p:regular r:id="rId22"/>
      <p:bold r:id="rId23"/>
      <p:italic r:id="rId24"/>
      <p:boldItalic r:id="rId25"/>
    </p:embeddedFont>
    <p:embeddedFont>
      <p:font typeface="Calibri" panose="020F0502020204030204" pitchFamily="34" charset="-122"/>
      <p:regular r:id="rId26"/>
    </p:embeddedFont>
    <p:embeddedFont>
      <p:font typeface="Calibri" panose="020F0502020204030204" pitchFamily="34" charset="-120"/>
      <p:regular r:id="rId27"/>
    </p:embeddedFont>
    <p:embeddedFont>
      <p:font typeface="Calibri bold" panose="020F0702030404030204" pitchFamily="34" charset="0"/>
      <p:bold r:id="rId28"/>
    </p:embeddedFont>
    <p:embeddedFont>
      <p:font typeface="Calibri Light" panose="020F0302020204030204" charset="0"/>
      <p:regular r:id="rId29"/>
      <p:italic r:id="rId30"/>
    </p:embeddedFont>
    <p:embeddedFont>
      <p:font typeface="Calibri" panose="020F0502020204030204"/>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5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7445C7-D5B3-4064-8672-C504FC0333A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283C5D1-C3C0-4B94-8624-48FB89BEFD8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283C5D1-C3C0-4B94-8624-48FB89BEFD8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283C5D1-C3C0-4B94-8624-48FB89BEFD8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8283C5D1-C3C0-4B94-8624-48FB89BEFD8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8283C5D1-C3C0-4B94-8624-48FB89BEFD8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283C5D1-C3C0-4B94-8624-48FB89BEFD8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83C5D1-C3C0-4B94-8624-48FB89BEFD8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83C5D1-C3C0-4B94-8624-48FB89BEFD8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83C5D1-C3C0-4B94-8624-48FB89BEFD8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283C5D1-C3C0-4B94-8624-48FB89BEFD8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283C5D1-C3C0-4B94-8624-48FB89BEFD8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EB101B-AB10-4481-A867-EB28C7B9A60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3C5D1-C3C0-4B94-8624-48FB89BEFD8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B101B-AB10-4481-A867-EB28C7B9A60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77374" y="1171852"/>
            <a:ext cx="8123068" cy="4247317"/>
          </a:xfrm>
          <a:prstGeom prst="rect">
            <a:avLst/>
          </a:prstGeom>
          <a:noFill/>
        </p:spPr>
        <p:txBody>
          <a:bodyPr wrap="square" rtlCol="0">
            <a:spAutoFit/>
          </a:bodyPr>
          <a:lstStyle/>
          <a:p>
            <a:pPr algn="ctr"/>
            <a:r>
              <a:rPr lang="en-US" sz="3200" b="1" dirty="0">
                <a:latin typeface="Calibri" panose="020F0502020204030204" pitchFamily="34" charset="0"/>
                <a:ea typeface="Calibri" panose="020F0502020204030204" pitchFamily="34" charset="0"/>
                <a:cs typeface="Calibri" panose="020F0502020204030204" pitchFamily="34" charset="0"/>
              </a:rPr>
              <a:t>CVR COLLEGE OF ENGINEERING</a:t>
            </a:r>
            <a:endParaRPr lang="en-US" sz="3200" b="1" dirty="0">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a:p>
            <a:pPr algn="ctr"/>
            <a:r>
              <a:rPr lang="en-US" sz="2000" b="1" dirty="0">
                <a:latin typeface="Calibri" panose="020F0502020204030204" pitchFamily="34" charset="0"/>
                <a:ea typeface="Calibri" panose="020F0502020204030204" pitchFamily="34" charset="0"/>
                <a:cs typeface="Calibri" panose="020F0502020204030204" pitchFamily="34" charset="0"/>
              </a:rPr>
              <a:t>Department of CSE</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algn="ctr"/>
            <a:r>
              <a:rPr lang="en-US" sz="2000" dirty="0" err="1">
                <a:latin typeface="Calibri" panose="020F0502020204030204" pitchFamily="34" charset="0"/>
                <a:ea typeface="Calibri" panose="020F0502020204030204" pitchFamily="34" charset="0"/>
                <a:cs typeface="Calibri" panose="020F0502020204030204" pitchFamily="34" charset="0"/>
              </a:rPr>
              <a:t>B.Tech</a:t>
            </a:r>
            <a:r>
              <a:rPr lang="en-US" sz="2000" dirty="0">
                <a:latin typeface="Calibri" panose="020F0502020204030204" pitchFamily="34" charset="0"/>
                <a:ea typeface="Calibri" panose="020F0502020204030204" pitchFamily="34" charset="0"/>
                <a:cs typeface="Calibri" panose="020F0502020204030204" pitchFamily="34" charset="0"/>
              </a:rPr>
              <a:t> CSE III Year II Semester </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ctr"/>
            <a:endParaRPr lang="en-US" dirty="0">
              <a:latin typeface="Calibri" panose="020F0502020204030204" pitchFamily="34" charset="0"/>
              <a:ea typeface="Calibri" panose="020F0502020204030204" pitchFamily="34" charset="0"/>
              <a:cs typeface="Calibri" panose="020F0502020204030204" pitchFamily="34" charset="0"/>
            </a:endParaRPr>
          </a:p>
          <a:p>
            <a:pPr algn="ctr"/>
            <a:r>
              <a:rPr lang="en-US" sz="2000" b="1" dirty="0">
                <a:latin typeface="Calibri" panose="020F0502020204030204" pitchFamily="34" charset="0"/>
                <a:ea typeface="Calibri" panose="020F0502020204030204" pitchFamily="34" charset="0"/>
                <a:cs typeface="Calibri" panose="020F0502020204030204" pitchFamily="34" charset="0"/>
              </a:rPr>
              <a:t>Industrial Oriented Mini Project Review-1, March. 2026</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algn="ctr"/>
            <a:endParaRPr lang="en-US" b="1" dirty="0">
              <a:latin typeface="Calibri" panose="020F0502020204030204" pitchFamily="34" charset="0"/>
              <a:ea typeface="Calibri" panose="020F0502020204030204" pitchFamily="34" charset="0"/>
              <a:cs typeface="Calibri" panose="020F0502020204030204" pitchFamily="34" charset="0"/>
            </a:endParaRPr>
          </a:p>
          <a:p>
            <a:pPr algn="ctr"/>
            <a:endParaRPr lang="en-US" dirty="0">
              <a:latin typeface="Calibri" panose="020F0502020204030204" pitchFamily="34" charset="0"/>
              <a:ea typeface="Calibri" panose="020F0502020204030204" pitchFamily="34" charset="0"/>
              <a:cs typeface="Calibri" panose="020F0502020204030204" pitchFamily="34" charset="0"/>
            </a:endParaRPr>
          </a:p>
          <a:p>
            <a:pPr algn="r"/>
            <a:r>
              <a:rPr lang="en-IN" sz="2000" b="1" dirty="0">
                <a:latin typeface="Calibri" panose="020F0502020204030204" pitchFamily="34" charset="0"/>
                <a:ea typeface="Calibri" panose="020F0502020204030204" pitchFamily="34" charset="0"/>
                <a:cs typeface="Calibri" panose="020F0502020204030204" pitchFamily="34" charset="0"/>
              </a:rPr>
              <a:t>23B81A05GN-M.Sanath Kumar</a:t>
            </a:r>
            <a:endParaRPr lang="en-IN" sz="2000" b="1" dirty="0">
              <a:latin typeface="Calibri" panose="020F0502020204030204" pitchFamily="34" charset="0"/>
              <a:ea typeface="Calibri" panose="020F0502020204030204" pitchFamily="34" charset="0"/>
              <a:cs typeface="Calibri" panose="020F0502020204030204" pitchFamily="34" charset="0"/>
            </a:endParaRPr>
          </a:p>
          <a:p>
            <a:pPr algn="r"/>
            <a:r>
              <a:rPr lang="en-IN" sz="2000" b="1" dirty="0">
                <a:latin typeface="Calibri" panose="020F0502020204030204" pitchFamily="34" charset="0"/>
                <a:ea typeface="Calibri" panose="020F0502020204030204" pitchFamily="34" charset="0"/>
                <a:cs typeface="Calibri" panose="020F0502020204030204" pitchFamily="34" charset="0"/>
              </a:rPr>
              <a:t>23B81A05GV-B.Shiva</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algn="r"/>
            <a:r>
              <a:rPr lang="en-IN" sz="2000" b="1" dirty="0">
                <a:latin typeface="Calibri" panose="020F0502020204030204" pitchFamily="34" charset="0"/>
                <a:ea typeface="Calibri" panose="020F0502020204030204" pitchFamily="34" charset="0"/>
                <a:cs typeface="Calibri" panose="020F0502020204030204" pitchFamily="34" charset="0"/>
              </a:rPr>
              <a:t>23B81A0</a:t>
            </a:r>
            <a:r>
              <a:rPr lang="en-US" sz="2000" b="1" dirty="0">
                <a:latin typeface="Calibri" panose="020F0502020204030204" pitchFamily="34" charset="0"/>
                <a:ea typeface="Calibri" panose="020F0502020204030204" pitchFamily="34" charset="0"/>
                <a:cs typeface="Calibri" panose="020F0502020204030204" pitchFamily="34" charset="0"/>
              </a:rPr>
              <a:t>5GX-K.Siddartha</a:t>
            </a:r>
            <a:endParaRPr lang="en-US" sz="2000" b="1"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3" name="AutoShape 2" descr="Program schedule"/>
          <p:cNvSpPr>
            <a:spLocks noChangeAspect="1" noChangeArrowheads="1"/>
          </p:cNvSpPr>
          <p:nvPr/>
        </p:nvSpPr>
        <p:spPr bwMode="auto">
          <a:xfrm>
            <a:off x="155575" y="-144463"/>
            <a:ext cx="304800" cy="3841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Picture 4"/>
          <p:cNvPicPr>
            <a:picLocks noChangeAspect="1"/>
          </p:cNvPicPr>
          <p:nvPr/>
        </p:nvPicPr>
        <p:blipFill>
          <a:blip r:embed="rId1"/>
          <a:stretch>
            <a:fillRect/>
          </a:stretch>
        </p:blipFill>
        <p:spPr>
          <a:xfrm>
            <a:off x="609141" y="621437"/>
            <a:ext cx="1468233" cy="1423156"/>
          </a:xfrm>
          <a:prstGeom prst="rect">
            <a:avLst/>
          </a:prstGeom>
        </p:spPr>
      </p:pic>
      <p:sp>
        <p:nvSpPr>
          <p:cNvPr id="4" name="TextBox 3"/>
          <p:cNvSpPr txBox="1"/>
          <p:nvPr/>
        </p:nvSpPr>
        <p:spPr>
          <a:xfrm>
            <a:off x="1709928" y="3785616"/>
            <a:ext cx="2843784" cy="645160"/>
          </a:xfrm>
          <a:prstGeom prst="rect">
            <a:avLst/>
          </a:prstGeom>
          <a:noFill/>
        </p:spPr>
        <p:txBody>
          <a:bodyPr wrap="square" rtlCol="0">
            <a:spAutoFit/>
          </a:bodyPr>
          <a:lstStyle/>
          <a:p>
            <a:r>
              <a:rPr lang="en-IN" b="1" dirty="0"/>
              <a:t>Under the Guidance Of:</a:t>
            </a:r>
            <a:endParaRPr lang="en-IN" b="1" dirty="0"/>
          </a:p>
          <a:p>
            <a:r>
              <a:rPr lang="en-IN" b="1" dirty="0"/>
              <a:t>Mr. Singam Chandra Sekhar</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52881" y="1536174"/>
            <a:ext cx="9540240" cy="2308324"/>
          </a:xfrm>
          <a:prstGeom prst="rect">
            <a:avLst/>
          </a:prstGeom>
          <a:noFill/>
        </p:spPr>
        <p:txBody>
          <a:bodyPr wrap="square">
            <a:spAutoFit/>
          </a:bodyPr>
          <a:lstStyle/>
          <a:p>
            <a:pPr algn="ctr"/>
            <a:r>
              <a:rPr lang="en-US" sz="4800" b="1" dirty="0"/>
              <a:t>Topic: </a:t>
            </a:r>
            <a:r>
              <a:rPr lang="en-US" sz="4800" b="1" u="sng" dirty="0" err="1"/>
              <a:t>TaskMaster</a:t>
            </a:r>
            <a:br>
              <a:rPr lang="en-US" sz="4800" b="1" dirty="0"/>
            </a:br>
            <a:r>
              <a:rPr lang="en-US" sz="4800" dirty="0"/>
              <a:t>Productivity and Task Management Web Application</a:t>
            </a:r>
            <a:endParaRPr lang="en-IN" sz="4800" dirty="0"/>
          </a:p>
        </p:txBody>
      </p:sp>
      <p:sp>
        <p:nvSpPr>
          <p:cNvPr id="2" name="Rectangle 1"/>
          <p:cNvSpPr/>
          <p:nvPr/>
        </p:nvSpPr>
        <p:spPr>
          <a:xfrm>
            <a:off x="548640" y="487680"/>
            <a:ext cx="11104880" cy="5882640"/>
          </a:xfrm>
          <a:prstGeom prst="rect">
            <a:avLst/>
          </a:prstGeom>
          <a:noFill/>
          <a:ln w="4127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72979" y="1297858"/>
            <a:ext cx="10980821" cy="4879105"/>
          </a:xfrm>
        </p:spPr>
        <p:txBody>
          <a:bodyPr>
            <a:normAutofit fontScale="92500" lnSpcReduction="10000"/>
          </a:bodyPr>
          <a:lstStyle/>
          <a:p>
            <a:r>
              <a:rPr lang="en-US" b="1" dirty="0" err="1"/>
              <a:t>TaskMaster</a:t>
            </a:r>
            <a:r>
              <a:rPr lang="en-US" dirty="0"/>
              <a:t> will be a productivity and task management web application designed to help individuals and teams organize, prioritize, and track their work efficiently. The system will allow users to create projects, assign tasks, set deadlines, and monitor progress through interactive dashboards and visual workflows.</a:t>
            </a:r>
            <a:endParaRPr lang="en-US" dirty="0"/>
          </a:p>
          <a:p>
            <a:r>
              <a:rPr lang="en-US" dirty="0"/>
              <a:t>The platform will include features such as customizable project boards, drag-and-drop task organization, priority labels, deadline reminders, and progress tracking. Role-based access control will enable team leads to manage tasks and permissions while team members collaborate and update task statuses in real time.</a:t>
            </a:r>
            <a:endParaRPr lang="en-US" dirty="0"/>
          </a:p>
          <a:p>
            <a:r>
              <a:rPr lang="en-US" dirty="0" err="1"/>
              <a:t>TaskMaster</a:t>
            </a:r>
            <a:r>
              <a:rPr lang="en-US" dirty="0"/>
              <a:t> will be developed using the </a:t>
            </a:r>
            <a:r>
              <a:rPr lang="en-US" b="1" dirty="0"/>
              <a:t>MERN stack</a:t>
            </a:r>
            <a:r>
              <a:rPr lang="en-US" dirty="0"/>
              <a:t>, incorporating secure authentication, RESTful APIs, and real-time updates. The system will also support future enhancements such as AI-based task suggestions, calendar integration, time tracking, and advanced reporting.</a:t>
            </a:r>
            <a:endParaRPr lang="en-US" dirty="0"/>
          </a:p>
          <a:p>
            <a:endParaRPr lang="en-IN" dirty="0"/>
          </a:p>
        </p:txBody>
      </p:sp>
      <p:sp>
        <p:nvSpPr>
          <p:cNvPr id="10" name="Rectangle 9"/>
          <p:cNvSpPr/>
          <p:nvPr/>
        </p:nvSpPr>
        <p:spPr>
          <a:xfrm>
            <a:off x="3196853" y="294858"/>
            <a:ext cx="5333072" cy="7723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ABSTRACT</a:t>
            </a:r>
            <a:endParaRPr lang="en-IN" sz="36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12294" y="1190595"/>
            <a:ext cx="11967411" cy="529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Need for the system:</a:t>
            </a:r>
            <a:br>
              <a:rPr kumimoji="0" lang="en-US" altLang="en-US" sz="2400" b="0" i="0" u="none" strike="noStrike" cap="none" normalizeH="0" baseline="0" dirty="0">
                <a:ln>
                  <a:noFill/>
                </a:ln>
                <a:solidFill>
                  <a:schemeClr val="tx1"/>
                </a:solidFill>
                <a:effectLst/>
                <a:latin typeface="Arial" panose="020B0604020202020204" pitchFamily="34" charset="0"/>
              </a:rPr>
            </a:br>
            <a:r>
              <a:rPr lang="en-US" sz="2400" dirty="0"/>
              <a:t>In today's fast-paced work environment, individuals and teams struggle with managing multiple tasks simultaneously. Without a centralized system, critical tasks get missed, deadlines are overlooked, and productivity suffers due to disorganized workflows.</a:t>
            </a:r>
            <a:endParaRPr lang="en-US" sz="2400" dirty="0"/>
          </a:p>
          <a:p>
            <a:pPr marL="0" indent="0" eaLnBrk="0" fontAlgn="base" hangingPunct="0">
              <a:lnSpc>
                <a:spcPct val="100000"/>
              </a:lnSpc>
              <a:spcBef>
                <a:spcPct val="0"/>
              </a:spcBef>
              <a:spcAft>
                <a:spcPct val="0"/>
              </a:spcAft>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Purpose of the system:</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a:t>
            </a:r>
            <a:r>
              <a:rPr lang="en-US" sz="2400" dirty="0">
                <a:solidFill>
                  <a:srgbClr val="555555"/>
                </a:solidFill>
                <a:latin typeface="Calibri" panose="020F0502020204030204" pitchFamily="34" charset="0"/>
                <a:ea typeface="Calibri" panose="020F0502020204030204" pitchFamily="34" charset="-122"/>
                <a:cs typeface="Calibri" panose="020F0502020204030204" pitchFamily="34" charset="-120"/>
              </a:rPr>
              <a:t> </a:t>
            </a:r>
            <a:r>
              <a:rPr lang="en-US" sz="2400" dirty="0" err="1"/>
              <a:t>TaskMaster</a:t>
            </a:r>
            <a:r>
              <a:rPr lang="en-US" sz="2400" dirty="0"/>
              <a:t> is designed to provide users with a smart, organized platform to plan, assign, and monitor tasks effectively. It replaces fragmented to-do lists and spreadsheets with an integrated, real-time collaborative task management solution. </a:t>
            </a:r>
            <a:endParaRPr lang="en-US" sz="2400" dirty="0"/>
          </a:p>
          <a:p>
            <a:pPr marL="0" indent="0" eaLnBrk="0" fontAlgn="base" hangingPunct="0">
              <a:lnSpc>
                <a:spcPct val="100000"/>
              </a:lnSpc>
              <a:spcBef>
                <a:spcPct val="0"/>
              </a:spcBef>
              <a:spcAft>
                <a:spcPct val="0"/>
              </a:spcAft>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Benefits:</a:t>
            </a:r>
            <a:br>
              <a:rPr kumimoji="0" lang="en-US" altLang="en-US" sz="2400" b="0" i="0" u="none" strike="noStrike" cap="none" normalizeH="0" baseline="0" dirty="0">
                <a:ln>
                  <a:noFill/>
                </a:ln>
                <a:solidFill>
                  <a:schemeClr val="tx1"/>
                </a:solidFill>
                <a:effectLst/>
                <a:latin typeface="Arial" panose="020B0604020202020204" pitchFamily="34" charset="0"/>
              </a:rPr>
            </a:br>
            <a:r>
              <a:rPr lang="en-US" sz="2400" dirty="0"/>
              <a:t>The system improves team productivity, ensures timely task completion, reduces missed deadlines, enables clear role assignments, and provides actionable insights through progress reports and analytics for smarter decision-making.</a:t>
            </a:r>
            <a:endParaRPr lang="en-US" sz="2400" dirty="0"/>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p:nvPr/>
        </p:nvSpPr>
        <p:spPr>
          <a:xfrm>
            <a:off x="3429463" y="525763"/>
            <a:ext cx="5333072" cy="7723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b="1" dirty="0">
                <a:solidFill>
                  <a:schemeClr val="tx1"/>
                </a:solidFill>
              </a:rPr>
              <a:t>INTRODUCTION</a:t>
            </a:r>
            <a:endParaRPr lang="en-IN" sz="3600" b="1"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0" y="1730918"/>
            <a:ext cx="121920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Char char="•"/>
            </a:pPr>
            <a:r>
              <a:rPr kumimoji="0" lang="en-US" altLang="en-US" sz="3200" b="0" i="0" u="none" strike="noStrike" cap="none" normalizeH="0" baseline="0" dirty="0">
                <a:ln>
                  <a:noFill/>
                </a:ln>
                <a:solidFill>
                  <a:schemeClr val="tx1"/>
                </a:solidFill>
                <a:effectLst/>
                <a:latin typeface="Arial" panose="020B0604020202020204" pitchFamily="34" charset="0"/>
              </a:rPr>
              <a:t> Many vehicle owners fail to maintain regular service schedules due to lack of reminders and proper tracking systems.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pPr>
            <a:r>
              <a:rPr kumimoji="0" lang="en-US" altLang="en-US" sz="3200" b="0" i="0" u="none" strike="noStrike" cap="none" normalizeH="0" baseline="0" dirty="0">
                <a:ln>
                  <a:noFill/>
                </a:ln>
                <a:solidFill>
                  <a:schemeClr val="tx1"/>
                </a:solidFill>
                <a:effectLst/>
                <a:latin typeface="Arial" panose="020B0604020202020204" pitchFamily="34" charset="0"/>
              </a:rPr>
              <a:t> Traditional service booking methods require physical visits or phone calls, which are time-consuming and inconvenient.</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pPr>
            <a:r>
              <a:rPr kumimoji="0" lang="en-US" altLang="en-US" sz="3200" b="0" i="0" u="none" strike="noStrike" cap="none" normalizeH="0" baseline="0" dirty="0">
                <a:ln>
                  <a:noFill/>
                </a:ln>
                <a:solidFill>
                  <a:schemeClr val="tx1"/>
                </a:solidFill>
                <a:effectLst/>
                <a:latin typeface="Arial" panose="020B0604020202020204" pitchFamily="34" charset="0"/>
              </a:rPr>
              <a:t> Service centers often face difficulties in managing appointments, customer records, and service history efficiently.</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pPr>
            <a:r>
              <a:rPr kumimoji="0" lang="en-US" altLang="en-US" sz="3200" b="0" i="0" u="none" strike="noStrike" cap="none" normalizeH="0" baseline="0" dirty="0">
                <a:ln>
                  <a:noFill/>
                </a:ln>
                <a:solidFill>
                  <a:schemeClr val="tx1"/>
                </a:solidFill>
                <a:effectLst/>
                <a:latin typeface="Arial" panose="020B0604020202020204" pitchFamily="34" charset="0"/>
              </a:rPr>
              <a:t> There is no centralized system that allows customers to track maintenance history and book services easily in one platform.</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3062253" y="-2426"/>
            <a:ext cx="5743643" cy="7723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b="1" dirty="0">
                <a:solidFill>
                  <a:schemeClr val="tx1"/>
                </a:solidFill>
              </a:rPr>
              <a:t>PROBLEM STATEMENT</a:t>
            </a:r>
            <a:endParaRPr lang="en-IN" sz="3600" b="1" dirty="0">
              <a:solidFill>
                <a:schemeClr val="tx1"/>
              </a:solidFill>
            </a:endParaRPr>
          </a:p>
        </p:txBody>
      </p:sp>
      <p:pic>
        <p:nvPicPr>
          <p:cNvPr id="3" name="Picture 2"/>
          <p:cNvPicPr>
            <a:picLocks noChangeAspect="1"/>
          </p:cNvPicPr>
          <p:nvPr/>
        </p:nvPicPr>
        <p:blipFill>
          <a:blip r:embed="rId1"/>
          <a:stretch>
            <a:fillRect/>
          </a:stretch>
        </p:blipFill>
        <p:spPr>
          <a:xfrm>
            <a:off x="172720" y="1171575"/>
            <a:ext cx="12019280" cy="53350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224178" y="0"/>
            <a:ext cx="5743643" cy="7723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b="1" dirty="0">
                <a:solidFill>
                  <a:schemeClr val="tx1"/>
                </a:solidFill>
              </a:rPr>
              <a:t>LITERATURE SURVEY</a:t>
            </a:r>
            <a:endParaRPr lang="en-IN" sz="3600" b="1" dirty="0">
              <a:solidFill>
                <a:schemeClr val="tx1"/>
              </a:solidFill>
            </a:endParaRPr>
          </a:p>
        </p:txBody>
      </p:sp>
      <p:graphicFrame>
        <p:nvGraphicFramePr>
          <p:cNvPr id="6" name="Content Placeholder 5"/>
          <p:cNvGraphicFramePr>
            <a:graphicFrameLocks noGrp="1"/>
          </p:cNvGraphicFramePr>
          <p:nvPr>
            <p:ph idx="1"/>
          </p:nvPr>
        </p:nvGraphicFramePr>
        <p:xfrm>
          <a:off x="758952" y="772357"/>
          <a:ext cx="10890504" cy="6085644"/>
        </p:xfrm>
        <a:graphic>
          <a:graphicData uri="http://schemas.openxmlformats.org/drawingml/2006/table">
            <a:tbl>
              <a:tblPr firstRow="1" bandRow="1">
                <a:tableStyleId>{5C22544A-7EE6-4342-B048-85BDC9FD1C3A}</a:tableStyleId>
              </a:tblPr>
              <a:tblGrid>
                <a:gridCol w="3630168"/>
                <a:gridCol w="3630168"/>
                <a:gridCol w="3630168"/>
              </a:tblGrid>
              <a:tr h="720889">
                <a:tc>
                  <a:txBody>
                    <a:bodyPr/>
                    <a:lstStyle/>
                    <a:p>
                      <a:r>
                        <a:rPr dirty="0"/>
                        <a:t>System / Tool</a:t>
                      </a:r>
                      <a:endParaRPr dirty="0"/>
                    </a:p>
                  </a:txBody>
                  <a:tcPr/>
                </a:tc>
                <a:tc>
                  <a:txBody>
                    <a:bodyPr/>
                    <a:lstStyle/>
                    <a:p>
                      <a:r>
                        <a:t>Key Features</a:t>
                      </a:r>
                    </a:p>
                  </a:txBody>
                  <a:tcPr/>
                </a:tc>
                <a:tc>
                  <a:txBody>
                    <a:bodyPr/>
                    <a:lstStyle/>
                    <a:p>
                      <a:r>
                        <a:rPr dirty="0"/>
                        <a:t>Limitations</a:t>
                      </a:r>
                      <a:endParaRPr dirty="0"/>
                    </a:p>
                  </a:txBody>
                  <a:tcPr/>
                </a:tc>
              </a:tr>
              <a:tr h="1592661">
                <a:tc>
                  <a:txBody>
                    <a:bodyPr/>
                    <a:lstStyle/>
                    <a:p>
                      <a:r>
                        <a:t>Trello</a:t>
                      </a:r>
                    </a:p>
                  </a:txBody>
                  <a:tcPr/>
                </a:tc>
                <a:tc>
                  <a:txBody>
                    <a:bodyPr/>
                    <a:lstStyle/>
                    <a:p>
                      <a:r>
                        <a:rPr dirty="0"/>
                        <a:t>Uses Kanban boards for visual task organization, drag-and-drop task management, and collaboration features for teams.</a:t>
                      </a:r>
                      <a:endParaRPr dirty="0"/>
                    </a:p>
                  </a:txBody>
                  <a:tcPr/>
                </a:tc>
                <a:tc>
                  <a:txBody>
                    <a:bodyPr/>
                    <a:lstStyle/>
                    <a:p>
                      <a:r>
                        <a:rPr dirty="0"/>
                        <a:t>Limited advanced analytics and lacks integrated personal productivity tools such as habit tracking.</a:t>
                      </a:r>
                      <a:endParaRPr dirty="0"/>
                    </a:p>
                  </a:txBody>
                  <a:tcPr/>
                </a:tc>
              </a:tr>
              <a:tr h="1341189">
                <a:tc>
                  <a:txBody>
                    <a:bodyPr/>
                    <a:lstStyle/>
                    <a:p>
                      <a:r>
                        <a:t>Asana</a:t>
                      </a:r>
                    </a:p>
                  </a:txBody>
                  <a:tcPr/>
                </a:tc>
                <a:tc>
                  <a:txBody>
                    <a:bodyPr/>
                    <a:lstStyle/>
                    <a:p>
                      <a:r>
                        <a:rPr dirty="0"/>
                        <a:t>Provides project planning, task assignment, workflow automation, and deadline tracking for teams.</a:t>
                      </a:r>
                      <a:endParaRPr dirty="0"/>
                    </a:p>
                  </a:txBody>
                  <a:tcPr/>
                </a:tc>
                <a:tc>
                  <a:txBody>
                    <a:bodyPr/>
                    <a:lstStyle/>
                    <a:p>
                      <a:r>
                        <a:rPr dirty="0"/>
                        <a:t>Can become complex for small teams and individuals; limited personalization for daily productivity.</a:t>
                      </a:r>
                      <a:endParaRPr dirty="0"/>
                    </a:p>
                  </a:txBody>
                  <a:tcPr/>
                </a:tc>
              </a:tr>
              <a:tr h="1341189">
                <a:tc>
                  <a:txBody>
                    <a:bodyPr/>
                    <a:lstStyle/>
                    <a:p>
                      <a:r>
                        <a:t>Jira</a:t>
                      </a:r>
                    </a:p>
                  </a:txBody>
                  <a:tcPr/>
                </a:tc>
                <a:tc>
                  <a:txBody>
                    <a:bodyPr/>
                    <a:lstStyle/>
                    <a:p>
                      <a:r>
                        <a:t>Widely used for software project management, supports issue tracking, sprint planning, and agile workflows.</a:t>
                      </a:r>
                    </a:p>
                  </a:txBody>
                  <a:tcPr/>
                </a:tc>
                <a:tc>
                  <a:txBody>
                    <a:bodyPr/>
                    <a:lstStyle/>
                    <a:p>
                      <a:r>
                        <a:t>Primarily designed for development teams; complex interface for general productivity use.</a:t>
                      </a:r>
                    </a:p>
                  </a:txBody>
                  <a:tcPr/>
                </a:tc>
              </a:tr>
              <a:tr h="1089716">
                <a:tc>
                  <a:txBody>
                    <a:bodyPr/>
                    <a:lstStyle/>
                    <a:p>
                      <a:r>
                        <a:t>Notion</a:t>
                      </a:r>
                    </a:p>
                  </a:txBody>
                  <a:tcPr/>
                </a:tc>
                <a:tc>
                  <a:txBody>
                    <a:bodyPr/>
                    <a:lstStyle/>
                    <a:p>
                      <a:r>
                        <a:t>Combines note-taking, databases, and project tracking with flexible workspace customization.</a:t>
                      </a:r>
                    </a:p>
                  </a:txBody>
                  <a:tcPr/>
                </a:tc>
                <a:tc>
                  <a:txBody>
                    <a:bodyPr/>
                    <a:lstStyle/>
                    <a:p>
                      <a:r>
                        <a:rPr dirty="0"/>
                        <a:t>Requires manual setup for structured task workflows and lacks built-in advanced task automation.</a:t>
                      </a:r>
                      <a:endParaRPr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300" y="1253330"/>
            <a:ext cx="10604500" cy="5286787"/>
          </a:xfrm>
        </p:spPr>
        <p:txBody>
          <a:bodyPr>
            <a:noAutofit/>
          </a:bodyPr>
          <a:lstStyle/>
          <a:p>
            <a:r>
              <a:rPr lang="en-US" sz="2200" b="1" dirty="0"/>
              <a:t>1. Productivity</a:t>
            </a:r>
            <a:br>
              <a:rPr lang="en-US" sz="2200" dirty="0"/>
            </a:br>
            <a:r>
              <a:rPr lang="en-US" sz="2200" dirty="0"/>
              <a:t>Enable users to create, prioritize, and manage tasks with clear deadlines and status tracking.</a:t>
            </a:r>
            <a:endParaRPr lang="en-US" sz="2200" dirty="0"/>
          </a:p>
          <a:p>
            <a:r>
              <a:rPr lang="en-US" sz="2200" b="1" dirty="0"/>
              <a:t>2. Collaboration</a:t>
            </a:r>
            <a:br>
              <a:rPr lang="en-US" sz="2200" dirty="0"/>
            </a:br>
            <a:r>
              <a:rPr lang="en-US" sz="2200" dirty="0"/>
              <a:t>Support team-based task assignment with role-based access control and shared workspaces.</a:t>
            </a:r>
            <a:endParaRPr lang="en-US" sz="2200" dirty="0"/>
          </a:p>
          <a:p>
            <a:r>
              <a:rPr lang="en-US" sz="2200" b="1" dirty="0"/>
              <a:t>3. Transparency</a:t>
            </a:r>
            <a:br>
              <a:rPr lang="en-US" sz="2200" dirty="0"/>
            </a:br>
            <a:r>
              <a:rPr lang="en-US" sz="2200" dirty="0"/>
              <a:t>Provide real-time visibility into task status, workload, and overall project progress.</a:t>
            </a:r>
            <a:endParaRPr lang="en-US" sz="2200" dirty="0"/>
          </a:p>
          <a:p>
            <a:r>
              <a:rPr lang="en-US" sz="2200" b="1" dirty="0"/>
              <a:t>4. Smart Reminders</a:t>
            </a:r>
            <a:br>
              <a:rPr lang="en-US" sz="2200" dirty="0"/>
            </a:br>
            <a:r>
              <a:rPr lang="en-US" sz="2200" dirty="0"/>
              <a:t>Deliver automated notifications and deadline alerts to ensure tasks are completed on time.</a:t>
            </a:r>
            <a:endParaRPr lang="en-US" sz="2200" dirty="0"/>
          </a:p>
          <a:p>
            <a:r>
              <a:rPr lang="en-US" sz="2200" b="1" dirty="0"/>
              <a:t>5. Analytics</a:t>
            </a:r>
            <a:br>
              <a:rPr lang="en-US" sz="2200" dirty="0"/>
            </a:br>
            <a:r>
              <a:rPr lang="en-US" sz="2200" dirty="0"/>
              <a:t>Generate reports and dashboards to analyze productivity trends and team performance.</a:t>
            </a:r>
            <a:endParaRPr lang="en-US" sz="2200" dirty="0"/>
          </a:p>
          <a:p>
            <a:r>
              <a:rPr lang="en-US" sz="2200" b="1" dirty="0"/>
              <a:t>6. Accessibility</a:t>
            </a:r>
            <a:br>
              <a:rPr lang="en-US" sz="2200" dirty="0"/>
            </a:br>
            <a:r>
              <a:rPr lang="en-US" sz="2200" dirty="0"/>
              <a:t>Ensure a responsive, mobile-friendly system accessible from any device, anywhere.</a:t>
            </a:r>
            <a:endParaRPr lang="en-US" sz="2200" dirty="0"/>
          </a:p>
          <a:p>
            <a:pPr marL="0" indent="0">
              <a:buNone/>
            </a:pPr>
            <a:endParaRPr lang="en-IN" sz="2400" dirty="0"/>
          </a:p>
        </p:txBody>
      </p:sp>
      <p:sp>
        <p:nvSpPr>
          <p:cNvPr id="7" name="Rectangle 6"/>
          <p:cNvSpPr/>
          <p:nvPr/>
        </p:nvSpPr>
        <p:spPr>
          <a:xfrm>
            <a:off x="2220897" y="317882"/>
            <a:ext cx="7750206" cy="8341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b="1" dirty="0">
                <a:solidFill>
                  <a:schemeClr val="tx1"/>
                </a:solidFill>
              </a:rPr>
              <a:t>PROJECT OBJECTIVES </a:t>
            </a:r>
            <a:endParaRPr lang="en-IN" sz="36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612" y="1201129"/>
            <a:ext cx="5604388" cy="5219336"/>
          </a:xfrm>
        </p:spPr>
        <p:txBody>
          <a:bodyPr>
            <a:noAutofit/>
          </a:bodyPr>
          <a:lstStyle/>
          <a:p>
            <a:pPr marL="0" indent="0">
              <a:buNone/>
            </a:pPr>
            <a:r>
              <a:rPr lang="en-US" b="1" dirty="0"/>
              <a:t>Functional Requirements</a:t>
            </a:r>
            <a:endParaRPr lang="en-US" b="1" dirty="0"/>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User registration and authentication</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Profile and workspace management</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Project creation and management</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Task creation, editing, and deletion</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Task assignment to team members</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Priority and deadline setting</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Task status updates (To-Do/In-Progress/</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2200" dirty="0">
                <a:latin typeface="Arial" panose="020B0604020202020204" pitchFamily="34" charset="0"/>
              </a:rPr>
              <a:t>   Done)</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Comment threads and collaboration on tasks</a:t>
            </a:r>
            <a:endParaRPr lang="en-US" altLang="en-US" sz="2200" dirty="0">
              <a:latin typeface="Arial" panose="020B0604020202020204" pitchFamily="34" charset="0"/>
            </a:endParaRPr>
          </a:p>
          <a:p>
            <a:pPr marL="0" lvl="0" indent="0" eaLnBrk="0" fontAlgn="base" hangingPunct="0">
              <a:lnSpc>
                <a:spcPct val="100000"/>
              </a:lnSpc>
              <a:spcBef>
                <a:spcPct val="0"/>
              </a:spcBef>
              <a:spcAft>
                <a:spcPct val="0"/>
              </a:spcAft>
              <a:buNone/>
            </a:pPr>
            <a:r>
              <a:rPr lang="en-IN" sz="2200" dirty="0"/>
              <a:t>• </a:t>
            </a:r>
            <a:r>
              <a:rPr lang="en-US" altLang="en-US" sz="2200" dirty="0">
                <a:latin typeface="Arial" panose="020B0604020202020204" pitchFamily="34" charset="0"/>
              </a:rPr>
              <a:t>Notification and reminder system for deadlines</a:t>
            </a:r>
            <a:endParaRPr lang="en-US" altLang="en-US" sz="2200" dirty="0">
              <a:latin typeface="Arial" panose="020B0604020202020204" pitchFamily="34" charset="0"/>
            </a:endParaRPr>
          </a:p>
          <a:p>
            <a:pPr marL="0" indent="0" eaLnBrk="0" fontAlgn="base" hangingPunct="0">
              <a:lnSpc>
                <a:spcPct val="100000"/>
              </a:lnSpc>
              <a:spcBef>
                <a:spcPct val="0"/>
              </a:spcBef>
              <a:spcAft>
                <a:spcPct val="0"/>
              </a:spcAft>
              <a:buNone/>
            </a:pPr>
            <a:r>
              <a:rPr lang="en-IN" sz="2200" dirty="0"/>
              <a:t>• </a:t>
            </a:r>
            <a:r>
              <a:rPr lang="en-US" sz="2200" dirty="0"/>
              <a:t>Admin panel for project and user management</a:t>
            </a:r>
            <a:endParaRPr lang="en-US" sz="2200" dirty="0"/>
          </a:p>
          <a:p>
            <a:pPr marL="0" lvl="0" indent="0" eaLnBrk="0" fontAlgn="base" hangingPunct="0">
              <a:lnSpc>
                <a:spcPct val="100000"/>
              </a:lnSpc>
              <a:spcBef>
                <a:spcPct val="0"/>
              </a:spcBef>
              <a:spcAft>
                <a:spcPct val="0"/>
              </a:spcAft>
              <a:buFontTx/>
              <a:buChar char="•"/>
            </a:pPr>
            <a:endParaRPr lang="en-US" altLang="en-US" dirty="0">
              <a:latin typeface="Arial" panose="020B0604020202020204" pitchFamily="34" charset="0"/>
            </a:endParaRPr>
          </a:p>
          <a:p>
            <a:endParaRPr lang="en-US" b="1" dirty="0"/>
          </a:p>
        </p:txBody>
      </p:sp>
      <p:sp>
        <p:nvSpPr>
          <p:cNvPr id="5" name="TextBox 4"/>
          <p:cNvSpPr txBox="1"/>
          <p:nvPr/>
        </p:nvSpPr>
        <p:spPr>
          <a:xfrm>
            <a:off x="5920003" y="1201129"/>
            <a:ext cx="5977030" cy="5016758"/>
          </a:xfrm>
          <a:prstGeom prst="rect">
            <a:avLst/>
          </a:prstGeom>
          <a:noFill/>
        </p:spPr>
        <p:txBody>
          <a:bodyPr wrap="square">
            <a:spAutoFit/>
          </a:bodyPr>
          <a:lstStyle/>
          <a:p>
            <a:r>
              <a:rPr lang="en-IN" sz="2800" b="1" dirty="0"/>
              <a:t>Non-Functional Requirements</a:t>
            </a:r>
            <a:endParaRPr lang="en-IN" sz="2800" dirty="0"/>
          </a:p>
          <a:p>
            <a:r>
              <a:rPr lang="en-IN" sz="2200" dirty="0"/>
              <a:t>• Support multiple concurrent users</a:t>
            </a:r>
            <a:endParaRPr lang="en-IN" sz="2200" dirty="0"/>
          </a:p>
          <a:p>
            <a:r>
              <a:rPr lang="en-IN" sz="2200" dirty="0"/>
              <a:t>• Real-time updates with low latency</a:t>
            </a:r>
            <a:endParaRPr lang="en-IN" sz="2200" dirty="0"/>
          </a:p>
          <a:p>
            <a:r>
              <a:rPr lang="en-IN" sz="2200" dirty="0"/>
              <a:t>• Secure login and session management</a:t>
            </a:r>
            <a:endParaRPr lang="en-IN" sz="2200" dirty="0"/>
          </a:p>
          <a:p>
            <a:r>
              <a:rPr lang="en-IN" sz="2200" dirty="0"/>
              <a:t>• Data encryption using HTTPS and JWT authentication</a:t>
            </a:r>
            <a:endParaRPr lang="en-IN" sz="2200" dirty="0"/>
          </a:p>
          <a:p>
            <a:r>
              <a:rPr lang="en-IN" sz="2200" dirty="0"/>
              <a:t>• Role-based access control (RBAC)</a:t>
            </a:r>
            <a:endParaRPr lang="en-IN" sz="2200" dirty="0"/>
          </a:p>
          <a:p>
            <a:r>
              <a:rPr lang="en-IN" sz="2200" dirty="0"/>
              <a:t>• Responsive and mobile-friendly user interface</a:t>
            </a:r>
            <a:br>
              <a:rPr lang="en-IN" sz="2200" dirty="0"/>
            </a:br>
            <a:r>
              <a:rPr lang="en-IN" sz="2200" dirty="0"/>
              <a:t>Minimal system load time (&lt;2 seconds)</a:t>
            </a:r>
            <a:endParaRPr lang="en-IN" sz="2200" dirty="0"/>
          </a:p>
          <a:p>
            <a:r>
              <a:rPr lang="en-IN" sz="2200" dirty="0"/>
              <a:t>• Cross-browser compatibility</a:t>
            </a:r>
            <a:endParaRPr lang="en-IN" sz="2200" dirty="0"/>
          </a:p>
          <a:p>
            <a:r>
              <a:rPr lang="en-IN" sz="2200" dirty="0"/>
              <a:t>• Scalable backend </a:t>
            </a:r>
            <a:r>
              <a:rPr lang="en-IN" sz="2200" dirty="0" err="1"/>
              <a:t>architechture</a:t>
            </a:r>
            <a:r>
              <a:rPr lang="en-IN" sz="2200" dirty="0"/>
              <a:t> for future</a:t>
            </a:r>
            <a:endParaRPr lang="en-IN" sz="2200" dirty="0"/>
          </a:p>
          <a:p>
            <a:r>
              <a:rPr lang="en-IN" sz="2200" dirty="0"/>
              <a:t>      expansion</a:t>
            </a:r>
            <a:endParaRPr lang="en-IN" sz="2200" dirty="0"/>
          </a:p>
          <a:p>
            <a:r>
              <a:rPr lang="en-IN" sz="2200" dirty="0"/>
              <a:t>• Reliable data storage and backup</a:t>
            </a:r>
            <a:br>
              <a:rPr lang="en-IN" sz="2200" dirty="0"/>
            </a:br>
            <a:endParaRPr lang="en-IN" sz="2200" dirty="0"/>
          </a:p>
        </p:txBody>
      </p:sp>
      <p:sp>
        <p:nvSpPr>
          <p:cNvPr id="4" name="Rectangle 3"/>
          <p:cNvSpPr/>
          <p:nvPr/>
        </p:nvSpPr>
        <p:spPr>
          <a:xfrm>
            <a:off x="827104" y="180343"/>
            <a:ext cx="10537792" cy="7723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dirty="0">
                <a:solidFill>
                  <a:schemeClr val="tx1"/>
                </a:solidFill>
              </a:rPr>
              <a:t>FUNCTIONAL AND NON-FUNCTIONAL REQUIREMENTS</a:t>
            </a:r>
            <a:endParaRPr lang="en-IN" sz="28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6440" y="1751685"/>
            <a:ext cx="5257800" cy="4351338"/>
          </a:xfrm>
        </p:spPr>
        <p:txBody>
          <a:bodyPr>
            <a:normAutofit fontScale="85000" lnSpcReduction="10000"/>
          </a:bodyPr>
          <a:lstStyle/>
          <a:p>
            <a:pPr marL="0" indent="0">
              <a:buNone/>
            </a:pPr>
            <a:r>
              <a:rPr lang="en-IN" sz="3500" b="1" dirty="0"/>
              <a:t>Hardware Requirements</a:t>
            </a:r>
            <a:endParaRPr lang="en-IN" sz="3500" b="1" dirty="0"/>
          </a:p>
          <a:p>
            <a:r>
              <a:rPr lang="en-US" sz="3200" b="1" dirty="0"/>
              <a:t>Processor:</a:t>
            </a:r>
            <a:r>
              <a:rPr lang="en-US" sz="3200" dirty="0"/>
              <a:t> Intel Core i3 or higher</a:t>
            </a:r>
            <a:endParaRPr lang="en-US" sz="3200" dirty="0"/>
          </a:p>
          <a:p>
            <a:r>
              <a:rPr lang="en-US" sz="3200" b="1" dirty="0"/>
              <a:t>RAM:</a:t>
            </a:r>
            <a:r>
              <a:rPr lang="en-US" sz="3200" dirty="0"/>
              <a:t> Minimum 4 GB (8 GB recommended)</a:t>
            </a:r>
            <a:endParaRPr lang="en-US" sz="3200" dirty="0"/>
          </a:p>
          <a:p>
            <a:r>
              <a:rPr lang="en-US" sz="3200" b="1" dirty="0"/>
              <a:t>Storage:</a:t>
            </a:r>
            <a:r>
              <a:rPr lang="en-US" sz="3200" dirty="0"/>
              <a:t> At least 10 GB free disk space</a:t>
            </a:r>
            <a:endParaRPr lang="en-US" sz="3200" dirty="0"/>
          </a:p>
          <a:p>
            <a:r>
              <a:rPr lang="en-US" sz="3200" b="1" dirty="0"/>
              <a:t>Internet Connection:</a:t>
            </a:r>
            <a:r>
              <a:rPr lang="en-US" sz="3200" dirty="0"/>
              <a:t> Required for development and testing</a:t>
            </a:r>
            <a:endParaRPr lang="en-US" sz="3200" dirty="0"/>
          </a:p>
          <a:p>
            <a:r>
              <a:rPr lang="en-US" sz="3200" b="1" dirty="0"/>
              <a:t>Display:</a:t>
            </a:r>
            <a:r>
              <a:rPr lang="en-US" sz="3200" dirty="0"/>
              <a:t> Standard monitor with 1366 × 768 resolution or higher</a:t>
            </a:r>
            <a:endParaRPr lang="en-US" sz="3200" dirty="0"/>
          </a:p>
        </p:txBody>
      </p:sp>
      <p:sp>
        <p:nvSpPr>
          <p:cNvPr id="4" name="Content Placeholder 2"/>
          <p:cNvSpPr txBox="1"/>
          <p:nvPr/>
        </p:nvSpPr>
        <p:spPr>
          <a:xfrm>
            <a:off x="6096000" y="1751685"/>
            <a:ext cx="5097378" cy="48053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500" b="1" dirty="0"/>
              <a:t>Software Requirements</a:t>
            </a:r>
            <a:endParaRPr lang="en-IN" sz="3500" b="1" dirty="0"/>
          </a:p>
          <a:p>
            <a:r>
              <a:rPr lang="en-US" b="1" dirty="0"/>
              <a:t>Operating System:</a:t>
            </a:r>
            <a:r>
              <a:rPr lang="en-US" dirty="0"/>
              <a:t> Windows / Linux / macOS</a:t>
            </a:r>
            <a:endParaRPr lang="en-US" dirty="0"/>
          </a:p>
          <a:p>
            <a:r>
              <a:rPr lang="en-US" b="1" dirty="0"/>
              <a:t>Frontend:</a:t>
            </a:r>
            <a:r>
              <a:rPr lang="en-US" dirty="0"/>
              <a:t> HTML, CSS, JavaScript, React.js</a:t>
            </a:r>
            <a:endParaRPr lang="en-US" dirty="0"/>
          </a:p>
          <a:p>
            <a:r>
              <a:rPr lang="en-US" b="1" dirty="0"/>
              <a:t>Backend:</a:t>
            </a:r>
            <a:r>
              <a:rPr lang="en-US" dirty="0"/>
              <a:t> Node.js, Express.js</a:t>
            </a:r>
            <a:endParaRPr lang="en-US" dirty="0"/>
          </a:p>
          <a:p>
            <a:r>
              <a:rPr lang="en-IN" b="1" dirty="0"/>
              <a:t>Database:</a:t>
            </a:r>
            <a:r>
              <a:rPr lang="en-IN" dirty="0"/>
              <a:t> MongoDB</a:t>
            </a:r>
            <a:endParaRPr lang="en-IN" dirty="0"/>
          </a:p>
          <a:p>
            <a:r>
              <a:rPr lang="en-US" b="1" dirty="0"/>
              <a:t>Development Tools:</a:t>
            </a:r>
            <a:r>
              <a:rPr lang="en-US" dirty="0"/>
              <a:t> VS Code or any modern code editor</a:t>
            </a:r>
            <a:endParaRPr lang="en-US" dirty="0"/>
          </a:p>
          <a:p>
            <a:r>
              <a:rPr lang="en-US" b="1" dirty="0"/>
              <a:t>Package Manager:</a:t>
            </a:r>
            <a:r>
              <a:rPr lang="en-US" dirty="0"/>
              <a:t> </a:t>
            </a:r>
            <a:r>
              <a:rPr lang="en-US" dirty="0" err="1"/>
              <a:t>npm</a:t>
            </a:r>
            <a:r>
              <a:rPr lang="en-US" dirty="0"/>
              <a:t> or yarn</a:t>
            </a:r>
            <a:endParaRPr lang="en-US" dirty="0"/>
          </a:p>
          <a:p>
            <a:r>
              <a:rPr lang="en-IN" b="1" dirty="0"/>
              <a:t>Browser:</a:t>
            </a:r>
            <a:r>
              <a:rPr lang="en-IN" dirty="0"/>
              <a:t> Google Chrome / Mozilla Firefox / Edge</a:t>
            </a:r>
            <a:endParaRPr lang="en-IN" dirty="0"/>
          </a:p>
          <a:p>
            <a:r>
              <a:rPr lang="en-US" b="1" dirty="0"/>
              <a:t>Version Control:</a:t>
            </a:r>
            <a:r>
              <a:rPr lang="en-US" dirty="0"/>
              <a:t> Git and GitHub</a:t>
            </a:r>
            <a:endParaRPr lang="en-US" dirty="0"/>
          </a:p>
          <a:p>
            <a:endParaRPr lang="en-IN" dirty="0"/>
          </a:p>
        </p:txBody>
      </p:sp>
      <p:sp>
        <p:nvSpPr>
          <p:cNvPr id="5" name="Rectangle 4"/>
          <p:cNvSpPr/>
          <p:nvPr/>
        </p:nvSpPr>
        <p:spPr>
          <a:xfrm>
            <a:off x="1697115" y="300952"/>
            <a:ext cx="8797770" cy="772357"/>
          </a:xfrm>
          <a:prstGeom prst="rect">
            <a:avLst/>
          </a:prstGeom>
          <a:solidFill>
            <a:schemeClr val="accent1">
              <a:lumMod val="60000"/>
              <a:lumOff val="4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dirty="0">
                <a:solidFill>
                  <a:schemeClr val="tx1"/>
                </a:solidFill>
              </a:rPr>
              <a:t>HARDWARE AND SOFTWARE REQUIREMENTS</a:t>
            </a:r>
            <a:endParaRPr lang="en-IN" sz="2800" b="1"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0" y="229676"/>
            <a:ext cx="6096000" cy="646331"/>
          </a:xfrm>
          <a:prstGeom prst="rect">
            <a:avLst/>
          </a:prstGeom>
          <a:noFill/>
        </p:spPr>
        <p:txBody>
          <a:bodyPr wrap="square">
            <a:spAutoFit/>
          </a:bodyPr>
          <a:lstStyle/>
          <a:p>
            <a:pPr algn="ctr"/>
            <a:r>
              <a:rPr lang="en-IN" sz="3600" b="1" dirty="0">
                <a:ea typeface="Calibri bold" panose="020F0702030404030204" pitchFamily="34" charset="0"/>
                <a:cs typeface="Calibri bold" panose="020F0702030404030204" pitchFamily="34" charset="0"/>
              </a:rPr>
              <a:t>Architecture</a:t>
            </a:r>
            <a:r>
              <a:rPr lang="en-IN" sz="3600" b="1" dirty="0"/>
              <a:t> Diagram</a:t>
            </a:r>
            <a:endParaRPr lang="en-US" sz="3600" b="1" dirty="0"/>
          </a:p>
        </p:txBody>
      </p:sp>
      <p:pic>
        <p:nvPicPr>
          <p:cNvPr id="9" name="Picture 8"/>
          <p:cNvPicPr>
            <a:picLocks noChangeAspect="1"/>
          </p:cNvPicPr>
          <p:nvPr/>
        </p:nvPicPr>
        <p:blipFill>
          <a:blip r:embed="rId1"/>
          <a:stretch>
            <a:fillRect/>
          </a:stretch>
        </p:blipFill>
        <p:spPr>
          <a:xfrm>
            <a:off x="792480" y="785309"/>
            <a:ext cx="10288965" cy="60726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94791" y="2941242"/>
            <a:ext cx="4517136" cy="646331"/>
          </a:xfrm>
          <a:prstGeom prst="rect">
            <a:avLst/>
          </a:prstGeom>
          <a:noFill/>
        </p:spPr>
        <p:txBody>
          <a:bodyPr wrap="square">
            <a:spAutoFit/>
          </a:bodyPr>
          <a:lstStyle/>
          <a:p>
            <a:pPr algn="ctr"/>
            <a:r>
              <a:rPr lang="en-IN" sz="3600" b="1" dirty="0">
                <a:ea typeface="Calibri bold" panose="020F0702030404030204" pitchFamily="34" charset="0"/>
                <a:cs typeface="Calibri bold" panose="020F0702030404030204" pitchFamily="34" charset="0"/>
              </a:rPr>
              <a:t>Use Case Diagram</a:t>
            </a:r>
            <a:endParaRPr lang="en-US" sz="3600" b="1" dirty="0"/>
          </a:p>
        </p:txBody>
      </p:sp>
      <p:pic>
        <p:nvPicPr>
          <p:cNvPr id="7" name="Picture 6"/>
          <p:cNvPicPr>
            <a:picLocks noChangeAspect="1"/>
          </p:cNvPicPr>
          <p:nvPr/>
        </p:nvPicPr>
        <p:blipFill>
          <a:blip r:embed="rId1"/>
          <a:stretch>
            <a:fillRect/>
          </a:stretch>
        </p:blipFill>
        <p:spPr>
          <a:xfrm>
            <a:off x="3673543" y="0"/>
            <a:ext cx="5788121"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05300" y="0"/>
            <a:ext cx="50927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68096" y="2694039"/>
            <a:ext cx="405089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3600" b="1" dirty="0">
                <a:solidFill>
                  <a:prstClr val="black"/>
                </a:solidFill>
                <a:latin typeface="Calibri" panose="020F0502020204030204"/>
                <a:ea typeface="Calibri bold" panose="020F0702030404030204" pitchFamily="34" charset="0"/>
                <a:cs typeface="Calibri bold" panose="020F0702030404030204" pitchFamily="34" charset="0"/>
              </a:rPr>
              <a:t>Activity</a:t>
            </a:r>
            <a:r>
              <a:rPr kumimoji="0" lang="en-IN" sz="3600" b="1" i="0" u="none" strike="noStrike" kern="1200" cap="none" spc="0" normalizeH="0" baseline="0" noProof="0" dirty="0">
                <a:ln>
                  <a:noFill/>
                </a:ln>
                <a:solidFill>
                  <a:prstClr val="black"/>
                </a:solidFill>
                <a:effectLst/>
                <a:uLnTx/>
                <a:uFillTx/>
                <a:latin typeface="Calibri" panose="020F0502020204030204"/>
                <a:ea typeface="Calibri bold" panose="020F0702030404030204" pitchFamily="34" charset="0"/>
                <a:cs typeface="Calibri bold" panose="020F0702030404030204" pitchFamily="34" charset="0"/>
              </a:rPr>
              <a:t> Diagram</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07473" y="0"/>
            <a:ext cx="495776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11277" y="2535166"/>
            <a:ext cx="436552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Calibri bold" panose="020F0702030404030204" pitchFamily="34" charset="0"/>
                <a:cs typeface="Calibri bold" panose="020F0702030404030204" pitchFamily="34" charset="0"/>
              </a:rPr>
              <a:t>Sequence Diagram</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3535" y="1038225"/>
            <a:ext cx="7410450" cy="47815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21110" y="2585884"/>
            <a:ext cx="367726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3600" b="1" i="0" u="none" strike="noStrike" kern="1200" cap="none" spc="0" normalizeH="0" baseline="0" noProof="0" dirty="0">
                <a:ln>
                  <a:noFill/>
                </a:ln>
                <a:solidFill>
                  <a:prstClr val="black"/>
                </a:solidFill>
                <a:effectLst/>
                <a:uLnTx/>
                <a:uFillTx/>
                <a:latin typeface="Calibri" panose="020F0502020204030204"/>
                <a:ea typeface="Calibri bold" panose="020F0702030404030204" pitchFamily="34" charset="0"/>
                <a:cs typeface="Calibri bold" panose="020F0702030404030204" pitchFamily="34" charset="0"/>
              </a:rPr>
              <a:t>Deployment Diagram</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53414" y="2539014"/>
            <a:ext cx="4745723" cy="1015663"/>
          </a:xfrm>
          <a:prstGeom prst="rect">
            <a:avLst/>
          </a:prstGeom>
          <a:noFill/>
        </p:spPr>
        <p:txBody>
          <a:bodyPr wrap="none" rtlCol="0">
            <a:spAutoFit/>
          </a:bodyPr>
          <a:lstStyle/>
          <a:p>
            <a:r>
              <a:rPr lang="en-US" sz="6000" b="1" dirty="0"/>
              <a:t>THANK YOU</a:t>
            </a:r>
            <a:endParaRPr lang="en-IN" sz="60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5582</Words>
  <Application>WPS Presentation</Application>
  <PresentationFormat>Widescreen</PresentationFormat>
  <Paragraphs>147</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vt:lpstr>
      <vt:lpstr>Calibri</vt:lpstr>
      <vt:lpstr>Calibri</vt:lpstr>
      <vt:lpstr>Calibri bold</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derangula saicharan</dc:creator>
  <cp:lastModifiedBy>CVR</cp:lastModifiedBy>
  <cp:revision>12</cp:revision>
  <dcterms:created xsi:type="dcterms:W3CDTF">2026-02-19T16:14:00Z</dcterms:created>
  <dcterms:modified xsi:type="dcterms:W3CDTF">2026-03-24T04:03:11Z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D8D8A82EAD15468DA27AD797643C9762_12</vt:lpwstr>
  </property>
</Properties>
</file>